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1pPr>
    <a:lvl2pPr marL="0" marR="0" indent="457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2pPr>
    <a:lvl3pPr marL="0" marR="0" indent="914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3pPr>
    <a:lvl4pPr marL="0" marR="0" indent="1371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4pPr>
    <a:lvl5pPr marL="0" marR="0" indent="18288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5pPr>
    <a:lvl6pPr marL="0" marR="0" indent="22860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6pPr>
    <a:lvl7pPr marL="0" marR="0" indent="2743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7pPr>
    <a:lvl8pPr marL="0" marR="0" indent="3200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8pPr>
    <a:lvl9pPr marL="0" marR="0" indent="3657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-357243"/>
              <a:satOff val="7293"/>
              <a:lumOff val="8906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3">
              <a:satOff val="1412"/>
              <a:lumOff val="16412"/>
            </a:schemeClr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6E937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FFF171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A51B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103425"/>
              <a:satOff val="-7243"/>
              <a:lumOff val="9921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chemeClr val="accent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lumOff val="-14283"/>
            </a:schemeClr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satOff val="-6299"/>
              <a:lumOff val="-32309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5D5D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6500" y="12268950"/>
            <a:ext cx="21971000" cy="660401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Body Level One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Presentation Title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xfrm>
            <a:off x="23558499" y="1246072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urved, white arches on a grey reflective floor"/>
          <p:cNvSpPr/>
          <p:nvPr>
            <p:ph type="pic" idx="21"/>
          </p:nvPr>
        </p:nvSpPr>
        <p:spPr>
          <a:xfrm>
            <a:off x="-76200" y="-558800"/>
            <a:ext cx="24574500" cy="1483951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Author and Date"/>
          <p:cNvSpPr txBox="1"/>
          <p:nvPr>
            <p:ph type="body" sz="quarter" idx="22" hasCustomPrompt="1"/>
          </p:nvPr>
        </p:nvSpPr>
        <p:spPr>
          <a:xfrm>
            <a:off x="1206500" y="12268200"/>
            <a:ext cx="21971000" cy="660400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Presentation Title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Low angle view of a tall building with mirrored glass windows"/>
          <p:cNvSpPr/>
          <p:nvPr>
            <p:ph type="pic" idx="21"/>
          </p:nvPr>
        </p:nvSpPr>
        <p:spPr>
          <a:xfrm>
            <a:off x="8140700" y="-1"/>
            <a:ext cx="20574000" cy="13716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3335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150100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43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artial view of a ceiling with wood panelling"/>
          <p:cNvSpPr/>
          <p:nvPr>
            <p:ph type="pic" idx="21"/>
          </p:nvPr>
        </p:nvSpPr>
        <p:spPr>
          <a:xfrm>
            <a:off x="9588500" y="-482600"/>
            <a:ext cx="21513800" cy="1430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Slide Subtitle"/>
          <p:cNvSpPr txBox="1"/>
          <p:nvPr>
            <p:ph type="body" sz="quarter" idx="22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62" name="Slide Title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Slide Title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39116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pc="-119" sz="12000"/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100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109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6000"/>
              </a:spcBef>
              <a:buSzTx/>
              <a:buNone/>
              <a:defRPr sz="5000"/>
            </a:lvl1pPr>
            <a:lvl2pPr marL="0" indent="457200">
              <a:spcBef>
                <a:spcPts val="6000"/>
              </a:spcBef>
              <a:buSzTx/>
              <a:buNone/>
              <a:defRPr sz="5000"/>
            </a:lvl2pPr>
            <a:lvl3pPr marL="0" indent="914400">
              <a:spcBef>
                <a:spcPts val="6000"/>
              </a:spcBef>
              <a:buSzTx/>
              <a:buNone/>
              <a:defRPr sz="5000"/>
            </a:lvl3pPr>
            <a:lvl4pPr marL="0" indent="1371600">
              <a:spcBef>
                <a:spcPts val="6000"/>
              </a:spcBef>
              <a:buSzTx/>
              <a:buNone/>
              <a:defRPr sz="5000"/>
            </a:lvl4pPr>
            <a:lvl5pPr marL="0" indent="1828800">
              <a:spcBef>
                <a:spcPts val="6000"/>
              </a:spcBef>
              <a:buSzTx/>
              <a:buNone/>
              <a:defRPr sz="50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Agenda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191000"/>
            <a:ext cx="21971000" cy="40894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Georgia"/>
                <a:ea typeface="Georgia"/>
                <a:cs typeface="Georgia"/>
                <a:sym typeface="Georgia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Georgia"/>
                <a:ea typeface="Georgia"/>
                <a:cs typeface="Georgia"/>
                <a:sym typeface="Georgia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Georgia"/>
                <a:ea typeface="Georgia"/>
                <a:cs typeface="Georgia"/>
                <a:sym typeface="Georgia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Georgia"/>
                <a:ea typeface="Georgia"/>
                <a:cs typeface="Georgia"/>
                <a:sym typeface="Georgia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Georgia"/>
                <a:ea typeface="Georgia"/>
                <a:cs typeface="Georgia"/>
                <a:sym typeface="Georgia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206500"/>
            <a:ext cx="21971000" cy="7353300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128000"/>
            <a:ext cx="21971000" cy="1079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90000"/>
              </a:lnSpc>
              <a:spcBef>
                <a:spcPts val="0"/>
              </a:spcBef>
              <a:buSzTx/>
              <a:buNone/>
              <a:defRPr spc="-55"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5461000" y="9563100"/>
            <a:ext cx="13728700" cy="698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36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quarter" idx="1" hasCustomPrompt="1"/>
          </p:nvPr>
        </p:nvSpPr>
        <p:spPr>
          <a:xfrm>
            <a:off x="5194300" y="4165600"/>
            <a:ext cx="13995400" cy="4432300"/>
          </a:xfrm>
          <a:prstGeom prst="rect">
            <a:avLst/>
          </a:prstGeom>
        </p:spPr>
        <p:txBody>
          <a:bodyPr anchor="b"/>
          <a:lstStyle>
            <a:lvl1pPr marL="254000" indent="-2540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1pPr>
            <a:lvl2pPr marL="254000" indent="2032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2pPr>
            <a:lvl3pPr marL="254000" indent="6604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3pPr>
            <a:lvl4pPr marL="254000" indent="11176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4pPr>
            <a:lvl5pPr marL="254000" indent="15748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orridor of an open-air stone building under a pink and purple sky"/>
          <p:cNvSpPr/>
          <p:nvPr>
            <p:ph type="pic" sz="quarter" idx="21"/>
          </p:nvPr>
        </p:nvSpPr>
        <p:spPr>
          <a:xfrm>
            <a:off x="1257300" y="3213100"/>
            <a:ext cx="7289800" cy="7289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lack and white close-up of a curved roof"/>
          <p:cNvSpPr/>
          <p:nvPr>
            <p:ph type="pic" sz="half" idx="22"/>
          </p:nvPr>
        </p:nvSpPr>
        <p:spPr>
          <a:xfrm>
            <a:off x="6577500" y="3632200"/>
            <a:ext cx="11228999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Low angle view of a metal spiral staircase"/>
          <p:cNvSpPr/>
          <p:nvPr>
            <p:ph type="pic" sz="quarter" idx="23"/>
          </p:nvPr>
        </p:nvSpPr>
        <p:spPr>
          <a:xfrm>
            <a:off x="14643100" y="3632200"/>
            <a:ext cx="9677400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Futuristic, white corridor with shadows"/>
          <p:cNvSpPr/>
          <p:nvPr>
            <p:ph type="pic" idx="21"/>
          </p:nvPr>
        </p:nvSpPr>
        <p:spPr>
          <a:xfrm>
            <a:off x="-38100" y="-520700"/>
            <a:ext cx="24447500" cy="1476331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635000"/>
            <a:ext cx="21971000" cy="168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23558499" y="12458699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r" defTabSz="584200">
              <a:spcBef>
                <a:spcPts val="0"/>
              </a:spcBef>
              <a:defRPr sz="200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transition xmlns:p14="http://schemas.microsoft.com/office/powerpoint/2010/main" spd="med" advClick="1"/>
  <p:txStyles>
    <p:titleStyle>
      <a:lvl1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1pPr>
      <a:lvl2pPr marL="0" marR="0" indent="457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2pPr>
      <a:lvl3pPr marL="0" marR="0" indent="914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3pPr>
      <a:lvl4pPr marL="0" marR="0" indent="1371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4pPr>
      <a:lvl5pPr marL="0" marR="0" indent="18288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5pPr>
      <a:lvl6pPr marL="0" marR="0" indent="22860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6pPr>
      <a:lvl7pPr marL="0" marR="0" indent="2743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7pPr>
      <a:lvl8pPr marL="0" marR="0" indent="3200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8pPr>
      <a:lvl9pPr marL="0" marR="0" indent="3657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9pPr>
    </p:titleStyle>
    <p:bodyStyle>
      <a:lvl1pPr marL="457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1pPr>
      <a:lvl2pPr marL="914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2pPr>
      <a:lvl3pPr marL="1371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3pPr>
      <a:lvl4pPr marL="1828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4pPr>
      <a:lvl5pPr marL="22860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5pPr>
      <a:lvl6pPr marL="2743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6pPr>
      <a:lvl7pPr marL="3200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7pPr>
      <a:lvl8pPr marL="3657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8pPr>
      <a:lvl9pPr marL="4114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9pPr>
    </p:bodyStyle>
    <p:otherStyle>
      <a:lvl1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hyperlink" Target="https://github.com/SwaraDhamale/SentimentAnalysisReviews" TargetMode="Externa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Name : Swarlaxmi Rahul Dhamale…"/>
          <p:cNvSpPr txBox="1"/>
          <p:nvPr>
            <p:ph type="body" idx="21"/>
          </p:nvPr>
        </p:nvSpPr>
        <p:spPr>
          <a:xfrm>
            <a:off x="1206499" y="11140950"/>
            <a:ext cx="21971001" cy="16384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>
              <a:defRPr sz="3500"/>
            </a:pPr>
            <a:r>
              <a:t>Name : Swarlaxmi Rahul Dhamale</a:t>
            </a:r>
          </a:p>
          <a:p>
            <a:pPr>
              <a:defRPr sz="3500"/>
            </a:pPr>
            <a:r>
              <a:t>Course : Data Science </a:t>
            </a:r>
          </a:p>
        </p:txBody>
      </p:sp>
      <p:sp>
        <p:nvSpPr>
          <p:cNvPr id="172" name="Project Presentation"/>
          <p:cNvSpPr txBox="1"/>
          <p:nvPr>
            <p:ph type="subTitle" sz="quarter" idx="1"/>
          </p:nvPr>
        </p:nvSpPr>
        <p:spPr>
          <a:xfrm>
            <a:off x="1206500" y="5657300"/>
            <a:ext cx="21971000" cy="2006601"/>
          </a:xfrm>
          <a:prstGeom prst="rect">
            <a:avLst/>
          </a:prstGeom>
        </p:spPr>
        <p:txBody>
          <a:bodyPr/>
          <a:lstStyle/>
          <a:p>
            <a:pPr/>
            <a:r>
              <a:t>Project Presentation</a:t>
            </a:r>
          </a:p>
        </p:txBody>
      </p:sp>
      <p:sp>
        <p:nvSpPr>
          <p:cNvPr id="173" name="Sentiment Analysis of Text Reviews using Machine Learning"/>
          <p:cNvSpPr txBox="1"/>
          <p:nvPr>
            <p:ph type="ctrTitle"/>
          </p:nvPr>
        </p:nvSpPr>
        <p:spPr>
          <a:xfrm>
            <a:off x="1206500" y="312200"/>
            <a:ext cx="21971004" cy="4648201"/>
          </a:xfrm>
          <a:prstGeom prst="rect">
            <a:avLst/>
          </a:prstGeom>
        </p:spPr>
        <p:txBody>
          <a:bodyPr/>
          <a:lstStyle>
            <a:lvl1pPr defTabSz="352044">
              <a:defRPr spc="-118" sz="11880">
                <a:latin typeface="Microsoft Sans Serif"/>
                <a:ea typeface="Microsoft Sans Serif"/>
                <a:cs typeface="Microsoft Sans Serif"/>
                <a:sym typeface="Microsoft Sans Serif"/>
              </a:defRPr>
            </a:lvl1pPr>
          </a:lstStyle>
          <a:p>
            <a:pPr/>
            <a:r>
              <a:t>Sentiment Analysis of Text Reviews using Machine Learning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Introduction"/>
          <p:cNvSpPr txBox="1"/>
          <p:nvPr/>
        </p:nvSpPr>
        <p:spPr>
          <a:xfrm>
            <a:off x="8290710" y="355300"/>
            <a:ext cx="7132316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400">
              <a:lnSpc>
                <a:spcPct val="90000"/>
              </a:lnSpc>
              <a:spcBef>
                <a:spcPts val="0"/>
              </a:spcBef>
              <a:defRPr spc="-100" sz="100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>
              <a:defRPr>
                <a:solidFill>
                  <a:schemeClr val="accent1">
                    <a:satOff val="-9155"/>
                    <a:lumOff val="-32673"/>
                  </a:schemeClr>
                </a:solidFill>
              </a:defRPr>
            </a:pPr>
            <a:r>
              <a:rPr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176" name="What is Sentiment Analysis?…"/>
          <p:cNvSpPr txBox="1"/>
          <p:nvPr/>
        </p:nvSpPr>
        <p:spPr>
          <a:xfrm>
            <a:off x="954474" y="2604050"/>
            <a:ext cx="21980052" cy="1189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  <a:r>
              <a:t>What is Sentiment Analysis?</a:t>
            </a:r>
          </a:p>
          <a:p>
            <a:pPr marL="1352373" indent="-1212673">
              <a:buSzPct val="100000"/>
              <a:buFont typeface="Times Roman"/>
              <a:buChar char="•"/>
              <a:defRPr>
                <a:latin typeface="Georgia"/>
                <a:ea typeface="Georgia"/>
                <a:cs typeface="Georgia"/>
                <a:sym typeface="Georgia"/>
              </a:defRPr>
            </a:pPr>
            <a:r>
              <a:t>Sentiment analysis is a Natural Language Processing (NLP) technique used to identify emotions or opinions expressed in text.</a:t>
            </a:r>
          </a:p>
          <a:p>
            <a:pPr marL="1352373" indent="-1212673">
              <a:buSzPct val="100000"/>
              <a:buFont typeface="Times Roman"/>
              <a:buChar char="•"/>
              <a:defRPr>
                <a:latin typeface="Georgia"/>
                <a:ea typeface="Georgia"/>
                <a:cs typeface="Georgia"/>
                <a:sym typeface="Georgia"/>
              </a:defRPr>
            </a:pPr>
            <a:r>
              <a:t>It classifies text into categories such as:</a:t>
            </a:r>
          </a:p>
          <a:p>
            <a:pPr lvl="1" marL="1809573" indent="-1212673">
              <a:buSzPct val="100000"/>
              <a:buFont typeface="Times Roman"/>
              <a:buChar char="◦"/>
              <a:defRPr>
                <a:latin typeface="Georgia"/>
                <a:ea typeface="Georgia"/>
                <a:cs typeface="Georgia"/>
                <a:sym typeface="Georgia"/>
              </a:defRPr>
            </a:pPr>
            <a:r>
              <a:t>Positive</a:t>
            </a:r>
          </a:p>
          <a:p>
            <a:pPr lvl="1" marL="1809573" indent="-1212673">
              <a:buSzPct val="100000"/>
              <a:buFont typeface="Times Roman"/>
              <a:buChar char="◦"/>
              <a:defRPr>
                <a:latin typeface="Georgia"/>
                <a:ea typeface="Georgia"/>
                <a:cs typeface="Georgia"/>
                <a:sym typeface="Georgia"/>
              </a:defRPr>
            </a:pPr>
            <a:r>
              <a:t>Negative</a:t>
            </a:r>
          </a:p>
          <a:p>
            <a:pPr lvl="1" marL="1809573" indent="-1212673">
              <a:buSzPct val="100000"/>
              <a:buFont typeface="Times Roman"/>
              <a:buChar char="◦"/>
              <a:defRPr>
                <a:latin typeface="Georgia"/>
                <a:ea typeface="Georgia"/>
                <a:cs typeface="Georgia"/>
                <a:sym typeface="Georgia"/>
              </a:defRPr>
            </a:pPr>
            <a:r>
              <a:t>Neutral</a:t>
            </a:r>
          </a:p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  <a:r>
              <a:t>Why is it important?</a:t>
            </a:r>
          </a:p>
          <a:p>
            <a:pPr marL="1352373" indent="-1212673">
              <a:buSzPct val="100000"/>
              <a:buFont typeface="Times Roman"/>
              <a:buChar char="•"/>
              <a:defRPr>
                <a:latin typeface="Georgia"/>
                <a:ea typeface="Georgia"/>
                <a:cs typeface="Georgia"/>
                <a:sym typeface="Georgia"/>
              </a:defRPr>
            </a:pPr>
            <a:r>
              <a:t>Helps businesses understand customer opinions.</a:t>
            </a:r>
          </a:p>
          <a:p>
            <a:pPr marL="1352373" indent="-1212673">
              <a:buSzPct val="100000"/>
              <a:buFont typeface="Times Roman"/>
              <a:buChar char="•"/>
              <a:defRPr>
                <a:latin typeface="Georgia"/>
                <a:ea typeface="Georgia"/>
                <a:cs typeface="Georgia"/>
                <a:sym typeface="Georgia"/>
              </a:defRPr>
            </a:pPr>
            <a:r>
              <a:t>Useful in product reviews, social media, and feedback systems.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roblem Statement"/>
          <p:cNvSpPr txBox="1"/>
          <p:nvPr>
            <p:ph type="body" sz="quarter" idx="1"/>
          </p:nvPr>
        </p:nvSpPr>
        <p:spPr>
          <a:xfrm>
            <a:off x="470499" y="-97000"/>
            <a:ext cx="14994626" cy="2830526"/>
          </a:xfrm>
          <a:prstGeom prst="rect">
            <a:avLst/>
          </a:prstGeom>
        </p:spPr>
        <p:txBody>
          <a:bodyPr/>
          <a:lstStyle>
            <a:lvl1pPr algn="l">
              <a:defRPr spc="-100" sz="10000"/>
            </a:lvl1pPr>
          </a:lstStyle>
          <a:p>
            <a:pPr/>
            <a:r>
              <a:t>Problem Statement</a:t>
            </a:r>
          </a:p>
        </p:txBody>
      </p:sp>
      <p:sp>
        <p:nvSpPr>
          <p:cNvPr id="179" name="Large volumes of online reviews are generated daily.…"/>
          <p:cNvSpPr txBox="1"/>
          <p:nvPr/>
        </p:nvSpPr>
        <p:spPr>
          <a:xfrm>
            <a:off x="387204" y="3429878"/>
            <a:ext cx="23609593" cy="943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5000">
                <a:latin typeface="Georgia"/>
                <a:ea typeface="Georgia"/>
                <a:cs typeface="Georgia"/>
                <a:sym typeface="Georgia"/>
              </a:defRPr>
            </a:pPr>
            <a:r>
              <a:t>Large volumes of online reviews are generated daily.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5000">
                <a:latin typeface="Georgia"/>
                <a:ea typeface="Georgia"/>
                <a:cs typeface="Georgia"/>
                <a:sym typeface="Georgia"/>
              </a:defRPr>
            </a:pPr>
            <a:r>
              <a:t>Manual analysis of reviews is:</a:t>
            </a:r>
          </a:p>
          <a:p>
            <a:pPr lvl="1" marL="914400" indent="-317500" defTabSz="457200">
              <a:spcBef>
                <a:spcPts val="1200"/>
              </a:spcBef>
              <a:buSzPct val="100000"/>
              <a:buFont typeface="Times Roman"/>
              <a:buChar char="◦"/>
              <a:defRPr sz="5000">
                <a:latin typeface="Georgia"/>
                <a:ea typeface="Georgia"/>
                <a:cs typeface="Georgia"/>
                <a:sym typeface="Georgia"/>
              </a:defRPr>
            </a:pPr>
            <a:r>
              <a:t>Time-consuming</a:t>
            </a:r>
          </a:p>
          <a:p>
            <a:pPr lvl="1" marL="914400" indent="-317500" defTabSz="457200">
              <a:spcBef>
                <a:spcPts val="1200"/>
              </a:spcBef>
              <a:buSzPct val="100000"/>
              <a:buFont typeface="Times Roman"/>
              <a:buChar char="◦"/>
              <a:defRPr sz="5000">
                <a:latin typeface="Georgia"/>
                <a:ea typeface="Georgia"/>
                <a:cs typeface="Georgia"/>
                <a:sym typeface="Georgia"/>
              </a:defRPr>
            </a:pPr>
            <a:r>
              <a:t>Error-prone</a:t>
            </a:r>
          </a:p>
          <a:p>
            <a:pPr lvl="1" marL="914400" indent="-317500" defTabSz="457200">
              <a:spcBef>
                <a:spcPts val="1200"/>
              </a:spcBef>
              <a:buSzPct val="100000"/>
              <a:buFont typeface="Times Roman"/>
              <a:buChar char="◦"/>
              <a:defRPr sz="5000">
                <a:latin typeface="Georgia"/>
                <a:ea typeface="Georgia"/>
                <a:cs typeface="Georgia"/>
                <a:sym typeface="Georgia"/>
              </a:defRPr>
            </a:pPr>
            <a:r>
              <a:t>Not scalable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5000">
                <a:latin typeface="Georgia"/>
                <a:ea typeface="Georgia"/>
                <a:cs typeface="Georgia"/>
                <a:sym typeface="Georgia"/>
              </a:defRPr>
            </a:pPr>
            <a:r>
              <a:t>There is a need for an automated system to classify sentiment efficiently.</a:t>
            </a:r>
          </a:p>
          <a:p>
            <a:pPr defTabSz="457200">
              <a:spcBef>
                <a:spcPts val="1200"/>
              </a:spcBef>
              <a:defRPr sz="5000">
                <a:latin typeface="Georgia"/>
                <a:ea typeface="Georgia"/>
                <a:cs typeface="Georgia"/>
                <a:sym typeface="Georgia"/>
              </a:defRPr>
            </a:pPr>
          </a:p>
          <a:p>
            <a:pPr defTabSz="457200">
              <a:spcBef>
                <a:spcPts val="1200"/>
              </a:spcBef>
              <a:defRPr sz="5000">
                <a:latin typeface="Georgia"/>
                <a:ea typeface="Georgia"/>
                <a:cs typeface="Georgia"/>
                <a:sym typeface="Georgia"/>
              </a:defRPr>
            </a:pPr>
          </a:p>
          <a:p>
            <a:pPr defTabSz="457200">
              <a:spcBef>
                <a:spcPts val="1200"/>
              </a:spcBef>
              <a:defRPr sz="5000">
                <a:latin typeface="Georgia"/>
                <a:ea typeface="Georgia"/>
                <a:cs typeface="Georgia"/>
                <a:sym typeface="Georgia"/>
              </a:defRPr>
            </a:pPr>
            <a:r>
              <a:rPr b="1"/>
              <a:t>Goal:</a:t>
            </a:r>
            <a:br/>
            <a:r>
              <a:t>Build a machine learning model to automatically classify review sentiment.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Dataset Description"/>
          <p:cNvSpPr txBox="1"/>
          <p:nvPr>
            <p:ph type="body" sz="quarter" idx="1"/>
          </p:nvPr>
        </p:nvSpPr>
        <p:spPr>
          <a:xfrm>
            <a:off x="2454500" y="-289001"/>
            <a:ext cx="18190876" cy="3143901"/>
          </a:xfrm>
          <a:prstGeom prst="rect">
            <a:avLst/>
          </a:prstGeom>
        </p:spPr>
        <p:txBody>
          <a:bodyPr/>
          <a:lstStyle>
            <a:lvl1pPr>
              <a:defRPr spc="-100" sz="10000"/>
            </a:lvl1pPr>
          </a:lstStyle>
          <a:p>
            <a:pPr/>
            <a:r>
              <a:t>Dataset Description</a:t>
            </a:r>
          </a:p>
        </p:txBody>
      </p:sp>
      <p:sp>
        <p:nvSpPr>
          <p:cNvPr id="182" name="Dataset consists of text reviews collected from:…"/>
          <p:cNvSpPr txBox="1"/>
          <p:nvPr/>
        </p:nvSpPr>
        <p:spPr>
          <a:xfrm>
            <a:off x="1679426" y="2726800"/>
            <a:ext cx="18766402" cy="1056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spcBef>
                <a:spcPts val="1200"/>
              </a:spcBef>
              <a:defRPr sz="5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Dataset consists of text reviews collected from: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5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Amazon, Movie Reviews dataset</a:t>
            </a:r>
          </a:p>
          <a:p>
            <a:pPr defTabSz="457200">
              <a:spcBef>
                <a:spcPts val="1200"/>
              </a:spcBef>
              <a:defRPr sz="5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Each review is labeled as: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5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Positive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5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Negative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5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Neutral</a:t>
            </a:r>
          </a:p>
          <a:p>
            <a:pPr defTabSz="457200">
              <a:spcBef>
                <a:spcPts val="1200"/>
              </a:spcBef>
              <a:defRPr sz="5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Data format: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5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CSV file with columns such as:</a:t>
            </a:r>
          </a:p>
          <a:p>
            <a:pPr lvl="1" marL="914400" indent="-317500" defTabSz="457200">
              <a:spcBef>
                <a:spcPts val="1200"/>
              </a:spcBef>
              <a:buSzPct val="100000"/>
              <a:buFont typeface="Times Roman"/>
              <a:buChar char="◦"/>
              <a:defRPr sz="5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Review text</a:t>
            </a:r>
          </a:p>
          <a:p>
            <a:pPr lvl="1" marL="914400" indent="-317500" defTabSz="457200">
              <a:spcBef>
                <a:spcPts val="1200"/>
              </a:spcBef>
              <a:buSzPct val="100000"/>
              <a:buFont typeface="Times Roman"/>
              <a:buChar char="◦"/>
              <a:defRPr sz="5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Sentiment label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ools and Technologies"/>
          <p:cNvSpPr txBox="1"/>
          <p:nvPr>
            <p:ph type="title"/>
          </p:nvPr>
        </p:nvSpPr>
        <p:spPr>
          <a:xfrm>
            <a:off x="1206498" y="-792400"/>
            <a:ext cx="21971004" cy="4648201"/>
          </a:xfrm>
          <a:prstGeom prst="rect">
            <a:avLst/>
          </a:prstGeom>
        </p:spPr>
        <p:txBody>
          <a:bodyPr/>
          <a:lstStyle>
            <a:lvl1pPr algn="ctr">
              <a:defRPr spc="-104" sz="105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Tools and Technologies</a:t>
            </a:r>
          </a:p>
        </p:txBody>
      </p:sp>
      <p:sp>
        <p:nvSpPr>
          <p:cNvPr id="185" name="Programming Language that is used :…"/>
          <p:cNvSpPr txBox="1"/>
          <p:nvPr/>
        </p:nvSpPr>
        <p:spPr>
          <a:xfrm>
            <a:off x="360723" y="4131200"/>
            <a:ext cx="11068237" cy="314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spcBef>
                <a:spcPts val="1200"/>
              </a:spcBef>
              <a:defRPr b="1" sz="4500">
                <a:latin typeface="Georgia"/>
                <a:ea typeface="Georgia"/>
                <a:cs typeface="Georgia"/>
                <a:sym typeface="Georgia"/>
              </a:defRPr>
            </a:pPr>
            <a:r>
              <a:t>Programming Language that is used :</a:t>
            </a:r>
            <a:endParaRPr b="0"/>
          </a:p>
          <a:p>
            <a:pPr marL="457199" indent="-317499" defTabSz="457200">
              <a:spcBef>
                <a:spcPts val="1200"/>
              </a:spcBef>
              <a:buSzPct val="100000"/>
              <a:buFont typeface="Times Roman"/>
              <a:buChar char="•"/>
              <a:defRPr sz="4500">
                <a:latin typeface="Georgia"/>
                <a:ea typeface="Georgia"/>
                <a:cs typeface="Georgia"/>
                <a:sym typeface="Georgia"/>
              </a:defRPr>
            </a:pPr>
            <a:r>
              <a:t>Python</a:t>
            </a:r>
          </a:p>
          <a:p>
            <a:pPr defTabSz="457200">
              <a:spcBef>
                <a:spcPts val="1200"/>
              </a:spcBef>
              <a:defRPr sz="4500"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186" name="Libraries Used:…"/>
          <p:cNvSpPr txBox="1"/>
          <p:nvPr/>
        </p:nvSpPr>
        <p:spPr>
          <a:xfrm>
            <a:off x="431425" y="6954250"/>
            <a:ext cx="10551978" cy="819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spcBef>
                <a:spcPts val="1200"/>
              </a:spcBef>
              <a:defRPr b="1"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Libraries Used:</a:t>
            </a:r>
            <a:endParaRPr b="0"/>
          </a:p>
          <a:p>
            <a:pPr marL="457199" indent="-317499" defTabSz="457200">
              <a:spcBef>
                <a:spcPts val="1200"/>
              </a:spcBef>
              <a:buSzPct val="100000"/>
              <a:buFont typeface="Times Roman"/>
              <a:buChar char="•"/>
              <a:defRPr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Pandas &amp; NumPy – data handling</a:t>
            </a:r>
          </a:p>
          <a:p>
            <a:pPr marL="457199" indent="-317499" defTabSz="457200">
              <a:spcBef>
                <a:spcPts val="1200"/>
              </a:spcBef>
              <a:buSzPct val="100000"/>
              <a:buFont typeface="Times Roman"/>
              <a:buChar char="•"/>
              <a:defRPr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NLTK / SpaCy – text preprocessing</a:t>
            </a:r>
          </a:p>
          <a:p>
            <a:pPr marL="457199" indent="-317499" defTabSz="457200">
              <a:spcBef>
                <a:spcPts val="1200"/>
              </a:spcBef>
              <a:buSzPct val="100000"/>
              <a:buFont typeface="Times Roman"/>
              <a:buChar char="•"/>
              <a:defRPr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Scikit-learn – machine learning models</a:t>
            </a:r>
          </a:p>
          <a:p>
            <a:pPr marL="457199" indent="-317499" defTabSz="457200">
              <a:spcBef>
                <a:spcPts val="1200"/>
              </a:spcBef>
              <a:buSzPct val="100000"/>
              <a:buFont typeface="Times Roman"/>
              <a:buChar char="•"/>
              <a:defRPr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Matplotlib &amp; Seaborn – visualization</a:t>
            </a:r>
          </a:p>
          <a:p>
            <a:pPr marL="457199" indent="-317499" defTabSz="457200">
              <a:spcBef>
                <a:spcPts val="1200"/>
              </a:spcBef>
              <a:buSzPct val="100000"/>
              <a:buFont typeface="Times Roman"/>
              <a:buChar char="•"/>
              <a:defRPr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WordCloud – word visualization</a:t>
            </a:r>
          </a:p>
          <a:p>
            <a:pPr marL="457200" indent="-457200" defTabSz="457200">
              <a:spcBef>
                <a:spcPts val="1200"/>
              </a:spcBef>
              <a:tabLst>
                <a:tab pos="139700" algn="l"/>
                <a:tab pos="457200" algn="l"/>
              </a:tabLst>
              <a:defRPr sz="50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457200" indent="-457200" defTabSz="457200">
              <a:spcBef>
                <a:spcPts val="1200"/>
              </a:spcBef>
              <a:tabLst>
                <a:tab pos="139700" algn="l"/>
                <a:tab pos="457200" algn="l"/>
              </a:tabLst>
              <a:defRPr sz="5000"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  <p:sp>
        <p:nvSpPr>
          <p:cNvPr id="187" name="Platform:…"/>
          <p:cNvSpPr txBox="1"/>
          <p:nvPr/>
        </p:nvSpPr>
        <p:spPr>
          <a:xfrm>
            <a:off x="14319426" y="5406600"/>
            <a:ext cx="7361164" cy="3606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spcBef>
                <a:spcPts val="1200"/>
              </a:spcBef>
              <a:defRPr b="1"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Platform:</a:t>
            </a:r>
            <a:endParaRPr b="0"/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Jupyter Notebook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GitHub for version control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Exploratory Data Analysis (EDA)"/>
          <p:cNvSpPr txBox="1"/>
          <p:nvPr>
            <p:ph type="body" sz="half" idx="1"/>
          </p:nvPr>
        </p:nvSpPr>
        <p:spPr>
          <a:xfrm>
            <a:off x="-3337500" y="-705000"/>
            <a:ext cx="21971001" cy="4089401"/>
          </a:xfrm>
          <a:prstGeom prst="rect">
            <a:avLst/>
          </a:prstGeom>
        </p:spPr>
        <p:txBody>
          <a:bodyPr/>
          <a:lstStyle>
            <a:lvl1pPr>
              <a:defRPr spc="-78" sz="7800"/>
            </a:lvl1pPr>
          </a:lstStyle>
          <a:p>
            <a:pPr/>
            <a:r>
              <a:t>Exploratory Data Analysis (EDA)</a:t>
            </a:r>
          </a:p>
        </p:txBody>
      </p:sp>
      <p:sp>
        <p:nvSpPr>
          <p:cNvPr id="190" name="EDA Performed:…"/>
          <p:cNvSpPr txBox="1"/>
          <p:nvPr/>
        </p:nvSpPr>
        <p:spPr>
          <a:xfrm>
            <a:off x="847426" y="2978199"/>
            <a:ext cx="15236875" cy="1102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spcBef>
                <a:spcPts val="1200"/>
              </a:spcBef>
              <a:defRPr b="1" sz="4900">
                <a:latin typeface="Georgia"/>
                <a:ea typeface="Georgia"/>
                <a:cs typeface="Georgia"/>
                <a:sym typeface="Georgia"/>
              </a:defRPr>
            </a:pPr>
            <a:r>
              <a:rPr>
                <a:solidFill>
                  <a:srgbClr val="000000"/>
                </a:solidFill>
              </a:rPr>
              <a:t>EDA Performed:</a:t>
            </a:r>
            <a:endParaRPr b="0">
              <a:solidFill>
                <a:srgbClr val="000000"/>
              </a:solidFill>
            </a:endParaRPr>
          </a:p>
          <a:p>
            <a:pPr marL="457199" indent="-317499" defTabSz="457200">
              <a:spcBef>
                <a:spcPts val="1200"/>
              </a:spcBef>
              <a:buSzPct val="100000"/>
              <a:buFont typeface="Times Roman"/>
              <a:buChar char="•"/>
              <a:defRPr sz="4900">
                <a:latin typeface="Georgia"/>
                <a:ea typeface="Georgia"/>
                <a:cs typeface="Georgia"/>
                <a:sym typeface="Georgia"/>
              </a:defRPr>
            </a:pPr>
            <a:r>
              <a:rPr>
                <a:solidFill>
                  <a:srgbClr val="000000"/>
                </a:solidFill>
              </a:rPr>
              <a:t>Checked dataset shape and structure.</a:t>
            </a:r>
            <a:endParaRPr>
              <a:solidFill>
                <a:srgbClr val="000000"/>
              </a:solidFill>
            </a:endParaRPr>
          </a:p>
          <a:p>
            <a:pPr marL="457199" indent="-317499" defTabSz="457200">
              <a:spcBef>
                <a:spcPts val="1200"/>
              </a:spcBef>
              <a:buSzPct val="100000"/>
              <a:buFont typeface="Times Roman"/>
              <a:buChar char="•"/>
              <a:defRPr sz="4900">
                <a:latin typeface="Georgia"/>
                <a:ea typeface="Georgia"/>
                <a:cs typeface="Georgia"/>
                <a:sym typeface="Georgia"/>
              </a:defRPr>
            </a:pPr>
            <a:r>
              <a:rPr>
                <a:solidFill>
                  <a:srgbClr val="000000"/>
                </a:solidFill>
              </a:rPr>
              <a:t>Analyzed distribution of sentiment labels.</a:t>
            </a:r>
            <a:endParaRPr>
              <a:solidFill>
                <a:srgbClr val="000000"/>
              </a:solidFill>
            </a:endParaRPr>
          </a:p>
          <a:p>
            <a:pPr marL="457199" indent="-317499" defTabSz="457200">
              <a:spcBef>
                <a:spcPts val="1200"/>
              </a:spcBef>
              <a:buSzPct val="100000"/>
              <a:buFont typeface="Times Roman"/>
              <a:buChar char="•"/>
              <a:defRPr sz="4900">
                <a:latin typeface="Georgia"/>
                <a:ea typeface="Georgia"/>
                <a:cs typeface="Georgia"/>
                <a:sym typeface="Georgia"/>
              </a:defRPr>
            </a:pPr>
            <a:r>
              <a:rPr>
                <a:solidFill>
                  <a:srgbClr val="000000"/>
                </a:solidFill>
              </a:rPr>
              <a:t>Visualized:</a:t>
            </a:r>
            <a:endParaRPr>
              <a:solidFill>
                <a:srgbClr val="000000"/>
              </a:solidFill>
            </a:endParaRPr>
          </a:p>
          <a:p>
            <a:pPr lvl="1" marL="914400" indent="-317500" defTabSz="457200">
              <a:spcBef>
                <a:spcPts val="1200"/>
              </a:spcBef>
              <a:buSzPct val="100000"/>
              <a:buFont typeface="Times Roman"/>
              <a:buChar char="◦"/>
              <a:defRPr sz="4900">
                <a:latin typeface="Georgia"/>
                <a:ea typeface="Georgia"/>
                <a:cs typeface="Georgia"/>
                <a:sym typeface="Georgia"/>
              </a:defRPr>
            </a:pPr>
            <a:r>
              <a:rPr>
                <a:solidFill>
                  <a:srgbClr val="000000"/>
                </a:solidFill>
              </a:rPr>
              <a:t>Number of positive, negative, and neutral reviews</a:t>
            </a:r>
            <a:endParaRPr>
              <a:solidFill>
                <a:srgbClr val="000000"/>
              </a:solidFill>
            </a:endParaRPr>
          </a:p>
          <a:p>
            <a:pPr lvl="1" marL="914400" indent="-317500" defTabSz="457200">
              <a:spcBef>
                <a:spcPts val="1200"/>
              </a:spcBef>
              <a:buSzPct val="100000"/>
              <a:buFont typeface="Times Roman"/>
              <a:buChar char="◦"/>
              <a:defRPr sz="4900">
                <a:latin typeface="Georgia"/>
                <a:ea typeface="Georgia"/>
                <a:cs typeface="Georgia"/>
                <a:sym typeface="Georgia"/>
              </a:defRPr>
            </a:pPr>
            <a:r>
              <a:rPr>
                <a:solidFill>
                  <a:srgbClr val="000000"/>
                </a:solidFill>
              </a:rPr>
              <a:t>Review length distribution</a:t>
            </a:r>
            <a:endParaRPr>
              <a:solidFill>
                <a:srgbClr val="000000"/>
              </a:solidFill>
            </a:endParaRPr>
          </a:p>
          <a:p>
            <a:pPr marL="457199" indent="-317499" defTabSz="457200">
              <a:spcBef>
                <a:spcPts val="1200"/>
              </a:spcBef>
              <a:buSzPct val="100000"/>
              <a:buFont typeface="Times Roman"/>
              <a:buChar char="•"/>
              <a:defRPr sz="4900">
                <a:latin typeface="Georgia"/>
                <a:ea typeface="Georgia"/>
                <a:cs typeface="Georgia"/>
                <a:sym typeface="Georgia"/>
              </a:defRPr>
            </a:pPr>
            <a:r>
              <a:rPr>
                <a:solidFill>
                  <a:srgbClr val="000000"/>
                </a:solidFill>
              </a:rPr>
              <a:t>Observed common words in each sentiment category.</a:t>
            </a:r>
            <a:endParaRPr>
              <a:solidFill>
                <a:srgbClr val="000000"/>
              </a:solidFill>
            </a:endParaRPr>
          </a:p>
          <a:p>
            <a:pPr defTabSz="457200">
              <a:spcBef>
                <a:spcPts val="1200"/>
              </a:spcBef>
              <a:defRPr b="1" sz="4900">
                <a:latin typeface="Georgia"/>
                <a:ea typeface="Georgia"/>
                <a:cs typeface="Georgia"/>
                <a:sym typeface="Georgia"/>
              </a:defRPr>
            </a:pPr>
            <a:endParaRPr>
              <a:solidFill>
                <a:srgbClr val="000000"/>
              </a:solidFill>
            </a:endParaRPr>
          </a:p>
          <a:p>
            <a:pPr defTabSz="457200">
              <a:spcBef>
                <a:spcPts val="1200"/>
              </a:spcBef>
              <a:defRPr b="1" sz="4900">
                <a:latin typeface="Georgia"/>
                <a:ea typeface="Georgia"/>
                <a:cs typeface="Georgia"/>
                <a:sym typeface="Georgia"/>
              </a:defRPr>
            </a:pPr>
            <a:r>
              <a:rPr>
                <a:solidFill>
                  <a:srgbClr val="000000"/>
                </a:solidFill>
              </a:rPr>
              <a:t>Purpose:</a:t>
            </a:r>
            <a:endParaRPr b="0">
              <a:solidFill>
                <a:srgbClr val="000000"/>
              </a:solidFill>
            </a:endParaRPr>
          </a:p>
          <a:p>
            <a:pPr marL="457199" indent="-317499" defTabSz="457200">
              <a:spcBef>
                <a:spcPts val="1200"/>
              </a:spcBef>
              <a:buSzPct val="100000"/>
              <a:buFont typeface="Times Roman"/>
              <a:buChar char="•"/>
              <a:defRPr sz="4900">
                <a:latin typeface="Georgia"/>
                <a:ea typeface="Georgia"/>
                <a:cs typeface="Georgia"/>
                <a:sym typeface="Georgia"/>
              </a:defRPr>
            </a:pPr>
            <a:r>
              <a:rPr>
                <a:solidFill>
                  <a:srgbClr val="000000"/>
                </a:solidFill>
              </a:rPr>
              <a:t>Understand data characteristics</a:t>
            </a:r>
            <a:endParaRPr>
              <a:solidFill>
                <a:srgbClr val="000000"/>
              </a:solidFill>
            </a:endParaRPr>
          </a:p>
          <a:p>
            <a:pPr marL="457199" indent="-317499" defTabSz="457200">
              <a:spcBef>
                <a:spcPts val="1200"/>
              </a:spcBef>
              <a:buSzPct val="100000"/>
              <a:buFont typeface="Times Roman"/>
              <a:buChar char="•"/>
              <a:defRPr sz="4900">
                <a:latin typeface="Georgia"/>
                <a:ea typeface="Georgia"/>
                <a:cs typeface="Georgia"/>
                <a:sym typeface="Georgia"/>
              </a:defRPr>
            </a:pPr>
            <a:r>
              <a:rPr>
                <a:solidFill>
                  <a:srgbClr val="000000"/>
                </a:solidFill>
              </a:rPr>
              <a:t>Identify patterns and imbalance</a:t>
            </a:r>
            <a:endParaRPr>
              <a:solidFill>
                <a:srgbClr val="000000"/>
              </a:solidFill>
            </a:endParaRPr>
          </a:p>
          <a:p>
            <a:pPr defTabSz="457200">
              <a:spcBef>
                <a:spcPts val="0"/>
              </a:spcBef>
              <a:defRPr sz="4900">
                <a:solidFill>
                  <a:srgbClr val="808080"/>
                </a:solidFill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 Preprocessing"/>
          <p:cNvSpPr txBox="1"/>
          <p:nvPr>
            <p:ph type="body" sz="half" idx="1"/>
          </p:nvPr>
        </p:nvSpPr>
        <p:spPr>
          <a:xfrm>
            <a:off x="-5513500" y="-545001"/>
            <a:ext cx="21971001" cy="4089401"/>
          </a:xfrm>
          <a:prstGeom prst="rect">
            <a:avLst/>
          </a:prstGeom>
        </p:spPr>
        <p:txBody>
          <a:bodyPr/>
          <a:lstStyle>
            <a:lvl1pPr>
              <a:defRPr spc="-85" sz="8600"/>
            </a:lvl1pPr>
          </a:lstStyle>
          <a:p>
            <a:pPr/>
            <a:r>
              <a:t>Text Preprocessing</a:t>
            </a:r>
          </a:p>
        </p:txBody>
      </p:sp>
      <p:sp>
        <p:nvSpPr>
          <p:cNvPr id="193" name="Steps applied to clean the text data:…"/>
          <p:cNvSpPr txBox="1"/>
          <p:nvPr/>
        </p:nvSpPr>
        <p:spPr>
          <a:xfrm>
            <a:off x="783426" y="3423100"/>
            <a:ext cx="16499053" cy="1186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4800">
                <a:latin typeface="Georgia"/>
                <a:ea typeface="Georgia"/>
                <a:cs typeface="Georgia"/>
                <a:sym typeface="Georgia"/>
              </a:defRPr>
            </a:pPr>
            <a:r>
              <a:rPr>
                <a:solidFill>
                  <a:srgbClr val="000000"/>
                </a:solidFill>
              </a:rPr>
              <a:t>Steps applied to clean the text data:</a:t>
            </a:r>
            <a:endParaRPr>
              <a:solidFill>
                <a:srgbClr val="000000"/>
              </a:solidFill>
            </a:endParaRPr>
          </a:p>
          <a:p>
            <a:pPr marL="1198033" indent="-1058333">
              <a:buSzPct val="100000"/>
              <a:buFont typeface="Times Roman"/>
              <a:buChar char="•"/>
              <a:defRPr sz="4800">
                <a:latin typeface="Georgia"/>
                <a:ea typeface="Georgia"/>
                <a:cs typeface="Georgia"/>
                <a:sym typeface="Georgia"/>
              </a:defRPr>
            </a:pPr>
            <a:r>
              <a:rPr>
                <a:solidFill>
                  <a:srgbClr val="000000"/>
                </a:solidFill>
              </a:rPr>
              <a:t>Convert text to lowercase</a:t>
            </a:r>
            <a:endParaRPr>
              <a:solidFill>
                <a:srgbClr val="000000"/>
              </a:solidFill>
            </a:endParaRPr>
          </a:p>
          <a:p>
            <a:pPr marL="1198033" indent="-1058333">
              <a:buSzPct val="100000"/>
              <a:buFont typeface="Times Roman"/>
              <a:buChar char="•"/>
              <a:defRPr sz="4800">
                <a:latin typeface="Georgia"/>
                <a:ea typeface="Georgia"/>
                <a:cs typeface="Georgia"/>
                <a:sym typeface="Georgia"/>
              </a:defRPr>
            </a:pPr>
            <a:r>
              <a:rPr>
                <a:solidFill>
                  <a:srgbClr val="000000"/>
                </a:solidFill>
              </a:rPr>
              <a:t>Remove punctuation and special characters</a:t>
            </a:r>
            <a:endParaRPr>
              <a:solidFill>
                <a:srgbClr val="000000"/>
              </a:solidFill>
            </a:endParaRPr>
          </a:p>
          <a:p>
            <a:pPr marL="1198033" indent="-1058333">
              <a:buSzPct val="100000"/>
              <a:buFont typeface="Times Roman"/>
              <a:buChar char="•"/>
              <a:defRPr sz="4800">
                <a:latin typeface="Georgia"/>
                <a:ea typeface="Georgia"/>
                <a:cs typeface="Georgia"/>
                <a:sym typeface="Georgia"/>
              </a:defRPr>
            </a:pPr>
            <a:r>
              <a:rPr>
                <a:solidFill>
                  <a:srgbClr val="000000"/>
                </a:solidFill>
              </a:rPr>
              <a:t>Tokenization (splitting into words)</a:t>
            </a:r>
            <a:endParaRPr>
              <a:solidFill>
                <a:srgbClr val="000000"/>
              </a:solidFill>
            </a:endParaRPr>
          </a:p>
          <a:p>
            <a:pPr marL="1198033" indent="-1058333">
              <a:buSzPct val="100000"/>
              <a:buFont typeface="Times Roman"/>
              <a:buChar char="•"/>
              <a:defRPr sz="4800">
                <a:latin typeface="Georgia"/>
                <a:ea typeface="Georgia"/>
                <a:cs typeface="Georgia"/>
                <a:sym typeface="Georgia"/>
              </a:defRPr>
            </a:pPr>
            <a:r>
              <a:rPr>
                <a:solidFill>
                  <a:srgbClr val="000000"/>
                </a:solidFill>
              </a:rPr>
              <a:t>Stopword removal (e.g., "the", "is", "and")</a:t>
            </a:r>
            <a:endParaRPr>
              <a:solidFill>
                <a:srgbClr val="000000"/>
              </a:solidFill>
            </a:endParaRPr>
          </a:p>
          <a:p>
            <a:pPr marL="1198033" indent="-1058333">
              <a:buSzPct val="100000"/>
              <a:buFont typeface="Times Roman"/>
              <a:buChar char="•"/>
              <a:defRPr sz="4800">
                <a:latin typeface="Georgia"/>
                <a:ea typeface="Georgia"/>
                <a:cs typeface="Georgia"/>
                <a:sym typeface="Georgia"/>
              </a:defRPr>
            </a:pPr>
            <a:r>
              <a:rPr>
                <a:solidFill>
                  <a:srgbClr val="000000"/>
                </a:solidFill>
              </a:rPr>
              <a:t>Lemmatization / stemming (convert words to root form)</a:t>
            </a:r>
            <a:endParaRPr>
              <a:solidFill>
                <a:srgbClr val="000000"/>
              </a:solidFill>
            </a:endParaRPr>
          </a:p>
          <a:p>
            <a:pPr>
              <a:defRPr sz="4800">
                <a:latin typeface="Georgia"/>
                <a:ea typeface="Georgia"/>
                <a:cs typeface="Georgia"/>
                <a:sym typeface="Georgia"/>
              </a:defRPr>
            </a:pPr>
            <a:r>
              <a:rPr b="1">
                <a:solidFill>
                  <a:srgbClr val="000000"/>
                </a:solidFill>
              </a:rPr>
              <a:t>Result:</a:t>
            </a:r>
            <a:br>
              <a:rPr>
                <a:solidFill>
                  <a:srgbClr val="000000"/>
                </a:solidFill>
              </a:rPr>
            </a:br>
            <a:r>
              <a:rPr>
                <a:solidFill>
                  <a:srgbClr val="000000"/>
                </a:solidFill>
              </a:rPr>
              <a:t>Cleaned and standardized text for model training.</a:t>
            </a:r>
            <a:endParaRPr>
              <a:solidFill>
                <a:srgbClr val="000000"/>
              </a:solidFill>
            </a:endParaRPr>
          </a:p>
          <a:p>
            <a:pPr>
              <a:defRPr sz="4800"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Feature Extraction"/>
          <p:cNvSpPr txBox="1"/>
          <p:nvPr>
            <p:ph type="body" sz="half" idx="1"/>
          </p:nvPr>
        </p:nvSpPr>
        <p:spPr>
          <a:xfrm>
            <a:off x="-5929500" y="-481000"/>
            <a:ext cx="21971001" cy="4089401"/>
          </a:xfrm>
          <a:prstGeom prst="rect">
            <a:avLst/>
          </a:prstGeom>
        </p:spPr>
        <p:txBody>
          <a:bodyPr/>
          <a:lstStyle>
            <a:lvl1pPr>
              <a:defRPr spc="-85" sz="8600"/>
            </a:lvl1pPr>
          </a:lstStyle>
          <a:p>
            <a:pPr/>
            <a:r>
              <a:t>Feature Extraction</a:t>
            </a:r>
          </a:p>
        </p:txBody>
      </p:sp>
      <p:sp>
        <p:nvSpPr>
          <p:cNvPr id="196" name="TF-IDF (Term Frequency – Inverse Document Frequency):…"/>
          <p:cNvSpPr txBox="1"/>
          <p:nvPr/>
        </p:nvSpPr>
        <p:spPr>
          <a:xfrm>
            <a:off x="527425" y="2945200"/>
            <a:ext cx="14061804" cy="264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spcBef>
                <a:spcPts val="1200"/>
              </a:spcBef>
              <a:defRPr b="1" sz="3600">
                <a:latin typeface="Georgia"/>
                <a:ea typeface="Georgia"/>
                <a:cs typeface="Georgia"/>
                <a:sym typeface="Georgia"/>
              </a:defRPr>
            </a:pPr>
            <a:r>
              <a:t>TF-IDF (Term Frequency – Inverse Document Frequency):</a:t>
            </a:r>
            <a:endParaRPr b="0"/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600">
                <a:latin typeface="Georgia"/>
                <a:ea typeface="Georgia"/>
                <a:cs typeface="Georgia"/>
                <a:sym typeface="Georgia"/>
              </a:defRPr>
            </a:pPr>
            <a:r>
              <a:t>Converts text into numerical vectors.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600">
                <a:latin typeface="Georgia"/>
                <a:ea typeface="Georgia"/>
                <a:cs typeface="Georgia"/>
                <a:sym typeface="Georgia"/>
              </a:defRPr>
            </a:pPr>
            <a:r>
              <a:t>Measures importance of words in documents.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600">
                <a:latin typeface="Georgia"/>
                <a:ea typeface="Georgia"/>
                <a:cs typeface="Georgia"/>
                <a:sym typeface="Georgia"/>
              </a:defRPr>
            </a:pPr>
            <a:r>
              <a:t>Reduces impact of common words and highlights important terms.</a:t>
            </a:r>
          </a:p>
        </p:txBody>
      </p:sp>
      <p:sp>
        <p:nvSpPr>
          <p:cNvPr id="197" name="Model Building"/>
          <p:cNvSpPr txBox="1"/>
          <p:nvPr/>
        </p:nvSpPr>
        <p:spPr>
          <a:xfrm>
            <a:off x="528833" y="6136080"/>
            <a:ext cx="6653186" cy="227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2438400">
              <a:lnSpc>
                <a:spcPct val="90000"/>
              </a:lnSpc>
              <a:spcBef>
                <a:spcPts val="0"/>
              </a:spcBef>
              <a:defRPr spc="-77" sz="77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Model Building</a:t>
            </a:r>
          </a:p>
        </p:txBody>
      </p:sp>
      <p:sp>
        <p:nvSpPr>
          <p:cNvPr id="198" name="Machine Learning models trained:…"/>
          <p:cNvSpPr txBox="1"/>
          <p:nvPr/>
        </p:nvSpPr>
        <p:spPr>
          <a:xfrm>
            <a:off x="637677" y="7700299"/>
            <a:ext cx="9904879" cy="612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spcBef>
                <a:spcPts val="1200"/>
              </a:spcBef>
              <a:defRPr sz="3700">
                <a:latin typeface="Georgia"/>
                <a:ea typeface="Georgia"/>
                <a:cs typeface="Georgia"/>
                <a:sym typeface="Georgia"/>
              </a:defRPr>
            </a:pPr>
            <a:r>
              <a:t>Machine Learning models trained: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700">
                <a:latin typeface="Georgia"/>
                <a:ea typeface="Georgia"/>
                <a:cs typeface="Georgia"/>
                <a:sym typeface="Georgia"/>
              </a:defRPr>
            </a:pPr>
            <a:r>
              <a:t>Naive Bayes Classifier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700">
                <a:latin typeface="Georgia"/>
                <a:ea typeface="Georgia"/>
                <a:cs typeface="Georgia"/>
                <a:sym typeface="Georgia"/>
              </a:defRPr>
            </a:pPr>
            <a:r>
              <a:t>Logistic Regression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700">
                <a:latin typeface="Georgia"/>
                <a:ea typeface="Georgia"/>
                <a:cs typeface="Georgia"/>
                <a:sym typeface="Georgia"/>
              </a:defRPr>
            </a:pPr>
            <a:r>
              <a:t>Support Vector Machine (SVM)</a:t>
            </a:r>
          </a:p>
          <a:p>
            <a:pPr defTabSz="457200">
              <a:spcBef>
                <a:spcPts val="1200"/>
              </a:spcBef>
              <a:defRPr b="1" sz="3700">
                <a:latin typeface="Georgia"/>
                <a:ea typeface="Georgia"/>
                <a:cs typeface="Georgia"/>
                <a:sym typeface="Georgia"/>
              </a:defRPr>
            </a:pPr>
            <a:r>
              <a:t>Data split:</a:t>
            </a:r>
            <a:endParaRPr b="0"/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700">
                <a:latin typeface="Georgia"/>
                <a:ea typeface="Georgia"/>
                <a:cs typeface="Georgia"/>
                <a:sym typeface="Georgia"/>
              </a:defRPr>
            </a:pPr>
            <a:r>
              <a:t>80% Training data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700">
                <a:latin typeface="Georgia"/>
                <a:ea typeface="Georgia"/>
                <a:cs typeface="Georgia"/>
                <a:sym typeface="Georgia"/>
              </a:defRPr>
            </a:pPr>
            <a:r>
              <a:t>20% Testing data</a:t>
            </a:r>
          </a:p>
          <a:p>
            <a:pPr defTabSz="457200">
              <a:spcBef>
                <a:spcPts val="1200"/>
              </a:spcBef>
              <a:defRPr sz="3700">
                <a:latin typeface="Georgia"/>
                <a:ea typeface="Georgia"/>
                <a:cs typeface="Georgia"/>
                <a:sym typeface="Georgia"/>
              </a:defRPr>
            </a:pPr>
            <a:r>
              <a:t>Each model was trained using TF-IDF features.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Model Evaluation"/>
          <p:cNvSpPr txBox="1"/>
          <p:nvPr>
            <p:ph type="body" sz="half" idx="1"/>
          </p:nvPr>
        </p:nvSpPr>
        <p:spPr>
          <a:xfrm>
            <a:off x="-6441500" y="-481000"/>
            <a:ext cx="21971001" cy="4089401"/>
          </a:xfrm>
          <a:prstGeom prst="rect">
            <a:avLst/>
          </a:prstGeom>
        </p:spPr>
        <p:txBody>
          <a:bodyPr/>
          <a:lstStyle>
            <a:lvl1pPr>
              <a:defRPr spc="-81" sz="8100"/>
            </a:lvl1pPr>
          </a:lstStyle>
          <a:p>
            <a:pPr/>
            <a:r>
              <a:t>Model Evaluation</a:t>
            </a:r>
          </a:p>
        </p:txBody>
      </p:sp>
      <p:sp>
        <p:nvSpPr>
          <p:cNvPr id="201" name="Text"/>
          <p:cNvSpPr txBox="1"/>
          <p:nvPr/>
        </p:nvSpPr>
        <p:spPr>
          <a:xfrm>
            <a:off x="21231426" y="18537190"/>
            <a:ext cx="1057149" cy="76962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/>
          </a:p>
        </p:txBody>
      </p:sp>
      <p:sp>
        <p:nvSpPr>
          <p:cNvPr id="202" name="."/>
          <p:cNvSpPr txBox="1"/>
          <p:nvPr/>
        </p:nvSpPr>
        <p:spPr>
          <a:xfrm>
            <a:off x="957782" y="5223900"/>
            <a:ext cx="244377" cy="134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spcBef>
                <a:spcPts val="12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.</a:t>
            </a:r>
          </a:p>
        </p:txBody>
      </p:sp>
      <p:sp>
        <p:nvSpPr>
          <p:cNvPr id="203" name="F1-score"/>
          <p:cNvSpPr txBox="1"/>
          <p:nvPr/>
        </p:nvSpPr>
        <p:spPr>
          <a:xfrm>
            <a:off x="6195576" y="17601150"/>
            <a:ext cx="3065848" cy="134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5" marL="11557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t>F1-score</a:t>
            </a:r>
          </a:p>
        </p:txBody>
      </p:sp>
      <p:sp>
        <p:nvSpPr>
          <p:cNvPr id="204" name="Models were evaluated using:…"/>
          <p:cNvSpPr txBox="1"/>
          <p:nvPr/>
        </p:nvSpPr>
        <p:spPr>
          <a:xfrm>
            <a:off x="637782" y="3748050"/>
            <a:ext cx="19342647" cy="986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spcBef>
                <a:spcPts val="1200"/>
              </a:spcBef>
              <a:defRPr sz="5200">
                <a:latin typeface="Georgia"/>
                <a:ea typeface="Georgia"/>
                <a:cs typeface="Georgia"/>
                <a:sym typeface="Georgia"/>
              </a:defRPr>
            </a:pPr>
            <a:r>
              <a:t>Models were evaluated using:</a:t>
            </a:r>
          </a:p>
          <a:p>
            <a:pPr defTabSz="457200">
              <a:spcBef>
                <a:spcPts val="1200"/>
              </a:spcBef>
              <a:defRPr sz="5200">
                <a:latin typeface="Georgia"/>
                <a:ea typeface="Georgia"/>
                <a:cs typeface="Georgia"/>
                <a:sym typeface="Georgia"/>
              </a:defRPr>
            </a:pP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5200">
                <a:latin typeface="Georgia"/>
                <a:ea typeface="Georgia"/>
                <a:cs typeface="Georgia"/>
                <a:sym typeface="Georgia"/>
              </a:defRPr>
            </a:pPr>
            <a:r>
              <a:t>Accuracy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5200">
                <a:latin typeface="Georgia"/>
                <a:ea typeface="Georgia"/>
                <a:cs typeface="Georgia"/>
                <a:sym typeface="Georgia"/>
              </a:defRPr>
            </a:pPr>
            <a:r>
              <a:t>Precision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5200">
                <a:latin typeface="Georgia"/>
                <a:ea typeface="Georgia"/>
                <a:cs typeface="Georgia"/>
                <a:sym typeface="Georgia"/>
              </a:defRPr>
            </a:pPr>
            <a:r>
              <a:t>Recall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5200">
                <a:latin typeface="Georgia"/>
                <a:ea typeface="Georgia"/>
                <a:cs typeface="Georgia"/>
                <a:sym typeface="Georgia"/>
              </a:defRPr>
            </a:pPr>
            <a:r>
              <a:t>F1-score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5200">
                <a:latin typeface="Georgia"/>
                <a:ea typeface="Georgia"/>
                <a:cs typeface="Georgia"/>
                <a:sym typeface="Georgia"/>
              </a:defRPr>
            </a:pPr>
            <a:r>
              <a:t>Confusion Matrix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5200">
                <a:latin typeface="Georgia"/>
                <a:ea typeface="Georgia"/>
                <a:cs typeface="Georgia"/>
                <a:sym typeface="Georgia"/>
              </a:defRPr>
            </a:pPr>
            <a:r>
              <a:t>Classification Report</a:t>
            </a:r>
          </a:p>
          <a:p>
            <a:pPr defTabSz="457200">
              <a:spcBef>
                <a:spcPts val="1200"/>
              </a:spcBef>
              <a:defRPr sz="5200">
                <a:latin typeface="Georgia"/>
                <a:ea typeface="Georgia"/>
                <a:cs typeface="Georgia"/>
                <a:sym typeface="Georgia"/>
              </a:defRPr>
            </a:pPr>
          </a:p>
          <a:p>
            <a:pPr defTabSz="457200">
              <a:spcBef>
                <a:spcPts val="1200"/>
              </a:spcBef>
              <a:defRPr sz="5200">
                <a:latin typeface="Georgia"/>
                <a:ea typeface="Georgia"/>
                <a:cs typeface="Georgia"/>
                <a:sym typeface="Georgia"/>
              </a:defRPr>
            </a:pPr>
            <a:r>
              <a:t>These metrics measure how well each model classifies sentiments.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sults &amp; Key Findings"/>
          <p:cNvSpPr txBox="1"/>
          <p:nvPr>
            <p:ph type="body" sz="half" idx="1"/>
          </p:nvPr>
        </p:nvSpPr>
        <p:spPr>
          <a:xfrm>
            <a:off x="1206500" y="-513000"/>
            <a:ext cx="21971000" cy="4089401"/>
          </a:xfrm>
          <a:prstGeom prst="rect">
            <a:avLst/>
          </a:prstGeom>
        </p:spPr>
        <p:txBody>
          <a:bodyPr/>
          <a:lstStyle>
            <a:lvl1pPr>
              <a:defRPr spc="-95" sz="9500"/>
            </a:lvl1pPr>
          </a:lstStyle>
          <a:p>
            <a:pPr/>
            <a:r>
              <a:t>Results &amp; Key Findings</a:t>
            </a:r>
          </a:p>
        </p:txBody>
      </p:sp>
      <p:sp>
        <p:nvSpPr>
          <p:cNvPr id="207" name="Results &amp; Key Findings"/>
          <p:cNvSpPr txBox="1"/>
          <p:nvPr/>
        </p:nvSpPr>
        <p:spPr>
          <a:xfrm>
            <a:off x="7080308" y="19454299"/>
            <a:ext cx="1583384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Results &amp; Key Findings</a:t>
            </a:r>
          </a:p>
        </p:txBody>
      </p:sp>
      <p:sp>
        <p:nvSpPr>
          <p:cNvPr id="208" name="Logistic Regression / SVM achieved the highest accuracy.…"/>
          <p:cNvSpPr txBox="1"/>
          <p:nvPr/>
        </p:nvSpPr>
        <p:spPr>
          <a:xfrm>
            <a:off x="1173327" y="3332050"/>
            <a:ext cx="19521117" cy="986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4100">
                <a:latin typeface="Georgia"/>
                <a:ea typeface="Georgia"/>
                <a:cs typeface="Georgia"/>
                <a:sym typeface="Georgia"/>
              </a:defRPr>
            </a:pPr>
            <a:r>
              <a:t>Logistic Regression / SVM achieved the highest accuracy.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4100">
                <a:latin typeface="Georgia"/>
                <a:ea typeface="Georgia"/>
                <a:cs typeface="Georgia"/>
                <a:sym typeface="Georgia"/>
              </a:defRPr>
            </a:pPr>
            <a:r>
              <a:t>Model correctly classified majority of reviews.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4100">
                <a:latin typeface="Georgia"/>
                <a:ea typeface="Georgia"/>
                <a:cs typeface="Georgia"/>
                <a:sym typeface="Georgia"/>
              </a:defRPr>
            </a:pPr>
            <a:r>
              <a:t>Positive reviews were more frequent than negative ones.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4100">
                <a:latin typeface="Georgia"/>
                <a:ea typeface="Georgia"/>
                <a:cs typeface="Georgia"/>
                <a:sym typeface="Georgia"/>
              </a:defRPr>
            </a:pPr>
            <a:r>
              <a:t>Word clouds showed common words in each sentiment category.</a:t>
            </a:r>
          </a:p>
          <a:p>
            <a:pPr defTabSz="457200">
              <a:spcBef>
                <a:spcPts val="1200"/>
              </a:spcBef>
              <a:defRPr sz="4100">
                <a:latin typeface="Georgia"/>
                <a:ea typeface="Georgia"/>
                <a:cs typeface="Georgia"/>
                <a:sym typeface="Georgia"/>
              </a:defRPr>
            </a:pPr>
          </a:p>
          <a:p>
            <a:pPr defTabSz="457200">
              <a:spcBef>
                <a:spcPts val="1200"/>
              </a:spcBef>
              <a:defRPr sz="4100">
                <a:latin typeface="Georgia"/>
                <a:ea typeface="Georgia"/>
                <a:cs typeface="Georgia"/>
                <a:sym typeface="Georgia"/>
              </a:defRPr>
            </a:pPr>
            <a:r>
              <a:rPr b="1"/>
              <a:t>Key Insight:</a:t>
            </a:r>
            <a:br/>
            <a:r>
              <a:t>     </a:t>
            </a:r>
          </a:p>
          <a:p>
            <a:pPr defTabSz="457200">
              <a:spcBef>
                <a:spcPts val="1200"/>
              </a:spcBef>
              <a:defRPr sz="4100">
                <a:latin typeface="Georgia"/>
                <a:ea typeface="Georgia"/>
                <a:cs typeface="Georgia"/>
                <a:sym typeface="Georgia"/>
              </a:defRPr>
            </a:pPr>
            <a:r>
              <a:rPr>
                <a:solidFill>
                  <a:srgbClr val="000000"/>
                </a:solidFill>
              </a:rPr>
              <a:t>Machine learning models can successfully classify sentiment from text reviews.</a:t>
            </a:r>
            <a:endParaRPr>
              <a:solidFill>
                <a:srgbClr val="000000"/>
              </a:solidFill>
            </a:endParaRP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4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Text preprocessing and feature extraction significantly </a:t>
            </a:r>
            <a:r>
              <a:rPr>
                <a:solidFill>
                  <a:srgbClr val="000000"/>
                </a:solidFill>
              </a:rPr>
              <a:t>i</a:t>
            </a:r>
            <a:r>
              <a:rPr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mpact model performanc</a:t>
            </a:r>
            <a:r>
              <a:rPr>
                <a:solidFill>
                  <a:srgbClr val="000000"/>
                </a:solidFill>
              </a:rPr>
              <a:t>e.</a:t>
            </a:r>
            <a:endParaRPr>
              <a:solidFill>
                <a:srgbClr val="000000"/>
              </a:solidFill>
            </a:endParaRP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4100">
                <a:latin typeface="Georgia"/>
                <a:ea typeface="Georgia"/>
                <a:cs typeface="Georgia"/>
                <a:sym typeface="Georgia"/>
              </a:defRPr>
            </a:pPr>
            <a:r>
              <a:rPr>
                <a:solidFill>
                  <a:srgbClr val="000000"/>
                </a:solidFill>
              </a:rPr>
              <a:t>TF-IDF proved to be an effective representation for sentiment classification.</a:t>
            </a:r>
            <a:endParaRPr>
              <a:solidFill>
                <a:srgbClr val="000000"/>
              </a:solidFill>
            </a:endParaRP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4100">
                <a:latin typeface="Georgia"/>
                <a:ea typeface="Georgia"/>
                <a:cs typeface="Georgia"/>
                <a:sym typeface="Georgia"/>
              </a:defRPr>
            </a:pPr>
            <a:r>
              <a:rPr>
                <a:solidFill>
                  <a:srgbClr val="000000"/>
                </a:solidFill>
              </a:rPr>
              <a:t>The project demonstrates a real-world application of NLP and machine learning.</a:t>
            </a:r>
            <a:endParaRPr>
              <a:solidFill>
                <a:srgbClr val="000000"/>
              </a:solidFill>
            </a:endParaRPr>
          </a:p>
          <a:p>
            <a:pPr defTabSz="457200">
              <a:spcBef>
                <a:spcPts val="0"/>
              </a:spcBef>
              <a:defRPr sz="3400">
                <a:solidFill>
                  <a:srgbClr val="80808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spcBef>
                <a:spcPts val="1200"/>
              </a:spcBef>
              <a:defRPr sz="3400">
                <a:latin typeface="Georgia"/>
                <a:ea typeface="Georgia"/>
                <a:cs typeface="Georgia"/>
                <a:sym typeface="Georgia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Machine learning models can successfully classify sentiment from text reviews.…"/>
          <p:cNvSpPr txBox="1"/>
          <p:nvPr/>
        </p:nvSpPr>
        <p:spPr>
          <a:xfrm>
            <a:off x="8687575" y="16977000"/>
            <a:ext cx="5600850" cy="177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>
                <a:solidFill>
                  <a:srgbClr val="000000"/>
                </a:solidFill>
              </a:rPr>
              <a:t>Machine learning models can successfully classify sentiment from text reviews.</a:t>
            </a:r>
            <a:endParaRPr>
              <a:solidFill>
                <a:srgbClr val="000000"/>
              </a:solidFill>
            </a:endParaRP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>
                <a:solidFill>
                  <a:srgbClr val="000000"/>
                </a:solidFill>
              </a:rPr>
              <a:t>Text preprocessing and feature extraction significantly impact model performance.</a:t>
            </a:r>
            <a:endParaRPr>
              <a:solidFill>
                <a:srgbClr val="000000"/>
              </a:solidFill>
            </a:endParaRP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>
                <a:solidFill>
                  <a:srgbClr val="000000"/>
                </a:solidFill>
              </a:rPr>
              <a:t>TF-IDF proved to be an effective representation for sentiment classification.</a:t>
            </a:r>
            <a:endParaRPr>
              <a:solidFill>
                <a:srgbClr val="000000"/>
              </a:solidFill>
            </a:endParaRP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>
                <a:solidFill>
                  <a:srgbClr val="000000"/>
                </a:solidFill>
              </a:rPr>
              <a:t>The project demonstrates a real-world application of NLP and machine learning.</a:t>
            </a:r>
            <a:endParaRPr>
              <a:solidFill>
                <a:srgbClr val="000000"/>
              </a:solidFill>
            </a:endParaRPr>
          </a:p>
          <a:p>
            <a:pPr defTabSz="457200">
              <a:spcBef>
                <a:spcPts val="0"/>
              </a:spcBef>
              <a:defRPr sz="1200">
                <a:solidFill>
                  <a:srgbClr val="80808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sp>
        <p:nvSpPr>
          <p:cNvPr id="211" name="GitHub Repository"/>
          <p:cNvSpPr txBox="1"/>
          <p:nvPr/>
        </p:nvSpPr>
        <p:spPr>
          <a:xfrm>
            <a:off x="6749505" y="521149"/>
            <a:ext cx="9476989" cy="140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2438400">
              <a:lnSpc>
                <a:spcPct val="90000"/>
              </a:lnSpc>
              <a:spcBef>
                <a:spcPts val="0"/>
              </a:spcBef>
              <a:defRPr spc="-90" sz="90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GitHub Repository</a:t>
            </a:r>
          </a:p>
        </p:txBody>
      </p:sp>
      <p:sp>
        <p:nvSpPr>
          <p:cNvPr id="212" name="GitHub Repository"/>
          <p:cNvSpPr txBox="1"/>
          <p:nvPr/>
        </p:nvSpPr>
        <p:spPr>
          <a:xfrm>
            <a:off x="11552783" y="16190300"/>
            <a:ext cx="1278434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GitHub Repository</a:t>
            </a:r>
          </a:p>
        </p:txBody>
      </p:sp>
      <p:sp>
        <p:nvSpPr>
          <p:cNvPr id="213" name="All project files are stored in GitHub:…"/>
          <p:cNvSpPr txBox="1"/>
          <p:nvPr/>
        </p:nvSpPr>
        <p:spPr>
          <a:xfrm>
            <a:off x="841238" y="2771050"/>
            <a:ext cx="11284503" cy="554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spcBef>
                <a:spcPts val="1200"/>
              </a:spcBef>
              <a:defRPr sz="4500">
                <a:latin typeface="Georgia"/>
                <a:ea typeface="Georgia"/>
                <a:cs typeface="Georgia"/>
                <a:sym typeface="Georgia"/>
              </a:defRPr>
            </a:pPr>
            <a:r>
              <a:t>All project files are stored in GitHub:</a:t>
            </a:r>
          </a:p>
          <a:p>
            <a:pPr marL="457199" indent="-317499" defTabSz="457200">
              <a:spcBef>
                <a:spcPts val="1200"/>
              </a:spcBef>
              <a:buSzPct val="100000"/>
              <a:buFont typeface="Times Roman"/>
              <a:buChar char="•"/>
              <a:defRPr sz="4500">
                <a:latin typeface="Georgia"/>
                <a:ea typeface="Georgia"/>
                <a:cs typeface="Georgia"/>
                <a:sym typeface="Georgia"/>
              </a:defRPr>
            </a:pPr>
            <a:r>
              <a:t>Code</a:t>
            </a:r>
          </a:p>
          <a:p>
            <a:pPr marL="457199" indent="-317499" defTabSz="457200">
              <a:spcBef>
                <a:spcPts val="1200"/>
              </a:spcBef>
              <a:buSzPct val="100000"/>
              <a:buFont typeface="Times Roman"/>
              <a:buChar char="•"/>
              <a:defRPr sz="4500">
                <a:latin typeface="Georgia"/>
                <a:ea typeface="Georgia"/>
                <a:cs typeface="Georgia"/>
                <a:sym typeface="Georgia"/>
              </a:defRPr>
            </a:pPr>
            <a:r>
              <a:t>Reports</a:t>
            </a:r>
          </a:p>
          <a:p>
            <a:pPr marL="457199" indent="-317499" defTabSz="457200">
              <a:spcBef>
                <a:spcPts val="1200"/>
              </a:spcBef>
              <a:buSzPct val="100000"/>
              <a:buFont typeface="Times Roman"/>
              <a:buChar char="•"/>
              <a:defRPr sz="4500">
                <a:latin typeface="Georgia"/>
                <a:ea typeface="Georgia"/>
                <a:cs typeface="Georgia"/>
                <a:sym typeface="Georgia"/>
              </a:defRPr>
            </a:pPr>
            <a:r>
              <a:t>Dataset</a:t>
            </a:r>
          </a:p>
          <a:p>
            <a:pPr marL="457199" indent="-317499" defTabSz="457200">
              <a:spcBef>
                <a:spcPts val="1200"/>
              </a:spcBef>
              <a:buSzPct val="100000"/>
              <a:buFont typeface="Times Roman"/>
              <a:buChar char="•"/>
              <a:defRPr sz="4500">
                <a:latin typeface="Georgia"/>
                <a:ea typeface="Georgia"/>
                <a:cs typeface="Georgia"/>
                <a:sym typeface="Georgia"/>
              </a:defRPr>
            </a:pPr>
            <a:r>
              <a:t>PPT</a:t>
            </a:r>
          </a:p>
          <a:p>
            <a:pPr defTabSz="457200">
              <a:spcBef>
                <a:spcPts val="1200"/>
              </a:spcBef>
              <a:defRPr sz="4500">
                <a:latin typeface="Georgia"/>
                <a:ea typeface="Georgia"/>
                <a:cs typeface="Georgia"/>
                <a:sym typeface="Georgia"/>
              </a:defRPr>
            </a:pPr>
            <a:r>
              <a:t>Ensures version control and project sharing.</a:t>
            </a:r>
          </a:p>
        </p:txBody>
      </p:sp>
      <p:sp>
        <p:nvSpPr>
          <p:cNvPr id="214" name="All project files are stored in GitHub:…"/>
          <p:cNvSpPr txBox="1"/>
          <p:nvPr/>
        </p:nvSpPr>
        <p:spPr>
          <a:xfrm>
            <a:off x="3087425" y="18367700"/>
            <a:ext cx="2797524" cy="226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spcBef>
                <a:spcPts val="12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All project files are stored in GitHub: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Code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Reports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Dataset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PPT</a:t>
            </a:r>
          </a:p>
          <a:p>
            <a:pPr defTabSz="457200">
              <a:spcBef>
                <a:spcPts val="12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Ensures version control and project sharing.</a:t>
            </a:r>
          </a:p>
        </p:txBody>
      </p:sp>
      <p:sp>
        <p:nvSpPr>
          <p:cNvPr id="215" name="GitHub Link:"/>
          <p:cNvSpPr txBox="1"/>
          <p:nvPr/>
        </p:nvSpPr>
        <p:spPr>
          <a:xfrm>
            <a:off x="1034112" y="9161149"/>
            <a:ext cx="3556199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spcBef>
                <a:spcPts val="0"/>
              </a:spcBef>
              <a:defRPr b="1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GitHub Link:</a:t>
            </a:r>
          </a:p>
        </p:txBody>
      </p:sp>
      <p:sp>
        <p:nvSpPr>
          <p:cNvPr id="216" name="https://github.com/SwaraDhamale/SentimentAnalysisReviews"/>
          <p:cNvSpPr txBox="1"/>
          <p:nvPr/>
        </p:nvSpPr>
        <p:spPr>
          <a:xfrm>
            <a:off x="4967986" y="9161149"/>
            <a:ext cx="14378484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u="sng">
                <a:latin typeface="Georgia"/>
                <a:ea typeface="Georgia"/>
                <a:cs typeface="Georgia"/>
                <a:sym typeface="Georgia"/>
                <a:hlinkClick r:id="rId2" invalidUrl="" action="" tgtFrame="" tooltip="" history="1" highlightClick="0" endSnd="0"/>
              </a:defRPr>
            </a:lvl1pPr>
          </a:lstStyle>
          <a:p>
            <a:pPr>
              <a:defRPr u="none"/>
            </a:pPr>
            <a:r>
              <a:rPr u="sng">
                <a:hlinkClick r:id="rId2" invalidUrl="" action="" tgtFrame="" tooltip="" history="1" highlightClick="0" endSnd="0"/>
              </a:rPr>
              <a:t>https://github.com/SwaraDhamale/SentimentAnalysisReviews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Attribution"/>
          <p:cNvSpPr txBox="1"/>
          <p:nvPr>
            <p:ph type="body" idx="21"/>
          </p:nvPr>
        </p:nvSpPr>
        <p:spPr>
          <a:xfrm>
            <a:off x="5557000" y="15003100"/>
            <a:ext cx="13728700" cy="698501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9" name="Thank You!!"/>
          <p:cNvSpPr txBox="1"/>
          <p:nvPr>
            <p:ph type="body" sz="quarter" idx="1"/>
          </p:nvPr>
        </p:nvSpPr>
        <p:spPr>
          <a:xfrm>
            <a:off x="7914299" y="3045600"/>
            <a:ext cx="13995401" cy="4432301"/>
          </a:xfrm>
          <a:prstGeom prst="rect">
            <a:avLst/>
          </a:prstGeom>
        </p:spPr>
        <p:txBody>
          <a:bodyPr/>
          <a:lstStyle>
            <a:lvl1pPr>
              <a:defRPr spc="-105" sz="10600"/>
            </a:lvl1pPr>
          </a:lstStyle>
          <a:p>
            <a:pPr/>
            <a:r>
              <a:t>Thank You!!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6_DynamicWavesLight">
  <a:themeElements>
    <a:clrScheme name="36_DynamicWavesLight">
      <a:dk1>
        <a:srgbClr val="53585F"/>
      </a:dk1>
      <a:lt1>
        <a:srgbClr val="5F3E0C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6_DynamicWaves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6_DynamicWaves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6_DynamicWavesLight">
  <a:themeElements>
    <a:clrScheme name="36_DynamicWavesLight">
      <a:dk1>
        <a:srgbClr val="000000"/>
      </a:dk1>
      <a:lt1>
        <a:srgbClr val="FFFFFF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6_DynamicWaves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6_DynamicWaves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